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6000000" cy="252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000000" cy="2880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26000"/>
            <a:ext cx="36000000" cy="5400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0000" y="288000"/>
            <a:ext cx="6480000" cy="1080000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8000" y="432000"/>
            <a:ext cx="61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200"/>
              </a:spcAft>
            </a:pPr>
            <a:r>
              <a:rPr sz="1200" b="1">
                <a:solidFill>
                  <a:srgbClr val="003A70"/>
                </a:solidFill>
                <a:latin typeface="Calibri"/>
              </a:rPr>
              <a:t>The Iby &amp; Aladar Fleischman
Faculty of Engineering
Tel Aviv University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1512000"/>
            <a:ext cx="4320000" cy="1007999"/>
          </a:xfrm>
          <a:prstGeom prst="rect">
            <a:avLst/>
          </a:prstGeom>
          <a:solidFill>
            <a:srgbClr val="009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8000" y="1584000"/>
            <a:ext cx="396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EXPANDING
the BOUNDARIES
of POSSIBILITY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000" y="216000"/>
            <a:ext cx="2016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29"/>
              </a:lnSpc>
              <a:spcAft>
                <a:spcPts val="200"/>
              </a:spcAft>
            </a:pPr>
            <a:r>
              <a:rPr sz="2200" b="1">
                <a:solidFill>
                  <a:srgbClr val="003A70"/>
                </a:solidFill>
                <a:latin typeface="Calibri"/>
              </a:rPr>
              <a:t>Cellomics 7: Development of an Advanced AI-Driven Framework:
Integrating GenAI and Cellomics Analysis for Multivariate
Time Series Investigation of Cancer Cell Motility and Metastasis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0" y="1440000"/>
            <a:ext cx="20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39"/>
              </a:lnSpc>
              <a:spcAft>
                <a:spcPts val="200"/>
              </a:spcAft>
            </a:pPr>
            <a:r>
              <a:rPr sz="1600" b="1">
                <a:solidFill>
                  <a:srgbClr val="000000"/>
                </a:solidFill>
                <a:latin typeface="Calibri"/>
              </a:rPr>
              <a:t>Project Number: 3074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0000" y="1872000"/>
            <a:ext cx="20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725"/>
              </a:lnSpc>
              <a:spcAft>
                <a:spcPts val="2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Students: Jeries Khoury, Waseem Bsharat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0" y="2268000"/>
            <a:ext cx="20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725"/>
              </a:lnSpc>
              <a:spcAft>
                <a:spcPts val="2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Advisor: Professor Ilan Tsarfaty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880000" y="288000"/>
            <a:ext cx="5400000" cy="1440000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060000" y="540000"/>
            <a:ext cx="504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50"/>
              </a:lnSpc>
              <a:spcAft>
                <a:spcPts val="200"/>
              </a:spcAft>
            </a:pPr>
            <a:r>
              <a:rPr sz="1000" b="0">
                <a:solidFill>
                  <a:srgbClr val="999999"/>
                </a:solidFill>
                <a:latin typeface="Calibri"/>
              </a:rPr>
              <a:t>[Company / Lab Logo]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0000" y="3456000"/>
            <a:ext cx="11400000" cy="3600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0000" y="3060000"/>
            <a:ext cx="114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60"/>
              </a:lnSpc>
              <a:spcAft>
                <a:spcPts val="200"/>
              </a:spcAft>
            </a:pPr>
            <a:r>
              <a:rPr sz="2400" b="1">
                <a:solidFill>
                  <a:srgbClr val="003A70"/>
                </a:solidFill>
                <a:latin typeface="Calibri"/>
              </a:rPr>
              <a:t>Introduction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000" y="3708000"/>
            <a:ext cx="1140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200"/>
              </a:spcAft>
            </a:pPr>
            <a:r>
              <a:rPr sz="1300" b="0">
                <a:solidFill>
                  <a:srgbClr val="000000"/>
                </a:solidFill>
                <a:latin typeface="Calibri"/>
              </a:rPr>
              <a:t>Cancer cell motility and metastasis are critical factors in tumour progression. Understanding the dynamic morphological behaviour of cancer cells under different drug treatments requires analysis of high-dimensional, multivariate time-series data generated by high-content screening (Cellomics) platforms.
This project develops an end-to-end AI-driven framework that combines Generative AI foundation models with traditional Cellomics image analysis to investigate how drug treatments — Methotrexate (METR), Gabapentin (GABY), and their combination — alter cancer cell motility patterns over time.
The pipeline processes ~238,000 single-cell trajectories across 4 treatment groups (NNIR control, METR+NNIR, GABY+NNIR, METR+GABY+NNIR), with 3 replicate wells each, tracked over multiple time points in a 12-well plate.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0000" y="9324000"/>
            <a:ext cx="11400000" cy="3600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0000" y="8928000"/>
            <a:ext cx="114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60"/>
              </a:lnSpc>
              <a:spcAft>
                <a:spcPts val="200"/>
              </a:spcAft>
            </a:pPr>
            <a:r>
              <a:rPr sz="2400" b="1">
                <a:solidFill>
                  <a:srgbClr val="003A70"/>
                </a:solidFill>
                <a:latin typeface="Calibri"/>
              </a:rPr>
              <a:t>Motivation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0000" y="9576000"/>
            <a:ext cx="11400000" cy="79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200"/>
              </a:spcAft>
            </a:pPr>
            <a:r>
              <a:rPr sz="1300" b="0">
                <a:solidFill>
                  <a:srgbClr val="000000"/>
                </a:solidFill>
                <a:latin typeface="Calibri"/>
              </a:rPr>
              <a:t>Traditional cell motility analysis relies on static, hand-crafted summary statistics (e.g. mean speed, total displacement) that collapse rich temporal dynamics into single numbers.
Key limitations of existing approaches:
• Loss of temporal information — when and how cells change behaviour is discarded
• Single-feature analysis — fails to capture multivariate interactions between morphological features
• No dose-response integration — cluster assignment is not linked to drug dose intensity
Our framework addresses these gaps by:
1. Fitting mathematical models to each cell's full time-series trajectory
2. Using GenAI foundation models (TimesFM, Chronos, Moirai) to learn rich temporal embeddings
3. Performing unsupervised clustering in the embedding space
4. Linking clusters to dose-response categories (Neg / Pos / High) per drug channel
5. Statistical validation via Two-Way ANOVA comparing dynamic vs. static clustering approaches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0000" y="18072000"/>
            <a:ext cx="11400000" cy="3600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0000" y="17676000"/>
            <a:ext cx="114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60"/>
              </a:lnSpc>
              <a:spcAft>
                <a:spcPts val="200"/>
              </a:spcAft>
            </a:pPr>
            <a:r>
              <a:rPr sz="2400" b="1">
                <a:solidFill>
                  <a:srgbClr val="003A70"/>
                </a:solidFill>
                <a:latin typeface="Calibri"/>
              </a:rPr>
              <a:t>Pipeline Overview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0000" y="18324000"/>
            <a:ext cx="11400000" cy="3420000"/>
          </a:xfrm>
          <a:prstGeom prst="rect">
            <a:avLst/>
          </a:prstGeom>
          <a:solidFill>
            <a:srgbClr val="F7F9FC"/>
          </a:solidFill>
          <a:ln w="12700"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0000" y="18432000"/>
            <a:ext cx="11040000" cy="3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200"/>
              </a:spcAft>
            </a:pPr>
            <a:r>
              <a:rPr sz="1200" b="0">
                <a:solidFill>
                  <a:srgbClr val="003A70"/>
                </a:solidFill>
                <a:latin typeface="Calibri"/>
              </a:rPr>
              <a:t>Raw Cellomics Data  →  Feature Selection (15/55 features)
  ↓
Time-Series Normalisation  →  Mathematical Fitting (5 models)
  ↓
GenAI Embedding (TimesFM / Chronos / Moirai)
  ↓
PCA + K-Means Clustering (k=2–10, silhouette-optimised)
  ↓
Dose-Response Integration  →  Two-Way ANOVA  →  Conclusions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300000" y="3456000"/>
            <a:ext cx="11400000" cy="3600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00000" y="3060000"/>
            <a:ext cx="114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60"/>
              </a:lnSpc>
              <a:spcAft>
                <a:spcPts val="200"/>
              </a:spcAft>
            </a:pPr>
            <a:r>
              <a:rPr sz="2400" b="1">
                <a:solidFill>
                  <a:srgbClr val="003A70"/>
                </a:solidFill>
                <a:latin typeface="Calibri"/>
              </a:rPr>
              <a:t>Implementation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00000" y="3708000"/>
            <a:ext cx="1140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200"/>
              </a:spcAft>
            </a:pPr>
            <a:r>
              <a:rPr sz="1300" b="0">
                <a:solidFill>
                  <a:srgbClr val="000000"/>
                </a:solidFill>
                <a:latin typeface="Calibri"/>
              </a:rPr>
              <a:t>Data: 238,146 cell trajectories from a Cellomics high-content screening assay (12-well plate, 4 treatments × 3 replicates). Each cell is tracked over multiple time frames across 55 morphological features (area, speed, acceleration, displacement, shape descriptors, etc.).
Feature Selection: Variance-based filtering and autocorrelation analysis reduce the feature space from 55 to 15 informative time-varying features.
Mathematical Fitting: Five trajectory models (linear, exponential decay, damped sinusoidal, logistic, power-law) are fitted per cell per feature. The best model is selected by RMSE.
GenAI Embedding: Pre-trained foundation models (Google TimesFM, Amazon Chronos, Salesforce Moirai) generate fixed-length vector representations of each cell's multivariate time series.
Forecasting &amp; Baseline: A many-model forecasting pipeline benchmarks 24 features against 4 baselines (LSTM, GRU, DLinear, Autoformer).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300000" y="10764000"/>
            <a:ext cx="11400000" cy="3600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300000" y="10368000"/>
            <a:ext cx="114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60"/>
              </a:lnSpc>
              <a:spcAft>
                <a:spcPts val="200"/>
              </a:spcAft>
            </a:pPr>
            <a:r>
              <a:rPr sz="2400" b="1">
                <a:solidFill>
                  <a:srgbClr val="003A70"/>
                </a:solidFill>
                <a:latin typeface="Calibri"/>
              </a:rPr>
              <a:t>Results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00000" y="11016000"/>
            <a:ext cx="1140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200"/>
              </a:spcAft>
            </a:pPr>
            <a:r>
              <a:rPr sz="1300" b="0">
                <a:solidFill>
                  <a:srgbClr val="000000"/>
                </a:solidFill>
                <a:latin typeface="Calibri"/>
              </a:rPr>
              <a:t>Clustering: Silhouette analysis identifies k=3 as the optimal cluster count. The three phenotypic clusters capture 88.3% of cells in cluster 1 (main population), 11.8% in cluster 0 (high-motility outliers), and 0.05% in cluster 2 (rare phenotype).</a:t>
            </a:r>
          </a:p>
        </p:txBody>
      </p:sp>
      <p:pic>
        <p:nvPicPr>
          <p:cNvPr id="30" name="Picture 29" descr="pca_kmeans_k3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0000" y="12636000"/>
            <a:ext cx="11400000" cy="43200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300000" y="16956000"/>
            <a:ext cx="114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50"/>
              </a:lnSpc>
              <a:spcAft>
                <a:spcPts val="200"/>
              </a:spcAft>
            </a:pPr>
            <a:r>
              <a:rPr sz="1000" b="0">
                <a:solidFill>
                  <a:srgbClr val="555555"/>
                </a:solidFill>
                <a:latin typeface="Calibri"/>
              </a:rPr>
              <a:t>Fig 1. PCA projection of embedding vectors coloured by K-Means cluster (k=3).</a:t>
            </a:r>
          </a:p>
        </p:txBody>
      </p:sp>
      <p:pic>
        <p:nvPicPr>
          <p:cNvPr id="32" name="Picture 31" descr="silhouette_vs_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00000" y="17676000"/>
            <a:ext cx="11400000" cy="36000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2300000" y="21276000"/>
            <a:ext cx="114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50"/>
              </a:lnSpc>
              <a:spcAft>
                <a:spcPts val="200"/>
              </a:spcAft>
            </a:pPr>
            <a:r>
              <a:rPr sz="1000" b="0">
                <a:solidFill>
                  <a:srgbClr val="555555"/>
                </a:solidFill>
                <a:latin typeface="Calibri"/>
              </a:rPr>
              <a:t>Fig 2. Average silhouette score vs. number of clusters (k=2–10).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060000" y="3456000"/>
            <a:ext cx="11400000" cy="3600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060000" y="3060000"/>
            <a:ext cx="114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60"/>
              </a:lnSpc>
              <a:spcAft>
                <a:spcPts val="200"/>
              </a:spcAft>
            </a:pPr>
            <a:r>
              <a:rPr sz="2400" b="1">
                <a:solidFill>
                  <a:srgbClr val="003A70"/>
                </a:solidFill>
                <a:latin typeface="Calibri"/>
              </a:rPr>
              <a:t>Results (cont.)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060000" y="3708000"/>
            <a:ext cx="1140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200"/>
              </a:spcAft>
            </a:pPr>
            <a:r>
              <a:rPr sz="1300" b="0">
                <a:solidFill>
                  <a:srgbClr val="000000"/>
                </a:solidFill>
                <a:latin typeface="Calibri"/>
              </a:rPr>
              <a:t>Forecasting: The many-model foundation model pipeline achieves substantially lower forecasting error across 24 cell features compared to standard deep-learning baselines:
  • vs. LSTM:        26.4% lower RMSE
  • vs. GRU:          28.3% lower RMSE
  • vs. DLinear:     12.7% lower RMSE
  • vs. Autoformer: 27.1% lower RMSE
Two-Way ANOVA (Method × Cluster, k=3):
  • 37/49 features show significant Analysis effect (FDR &lt; 0.05)
  • 43/49 features show significant Cluster effect
  • 40/49 features show significant Interaction effect
This confirms that dynamic AI-based clustering captures biologically meaningful structure beyond static summary statistics.</a:t>
            </a:r>
          </a:p>
        </p:txBody>
      </p:sp>
      <p:pic>
        <p:nvPicPr>
          <p:cNvPr id="37" name="Picture 36" descr="cluster_vs_dose_heatmap_k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60000" y="8928000"/>
            <a:ext cx="11400000" cy="36000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24060000" y="12528000"/>
            <a:ext cx="114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50"/>
              </a:lnSpc>
              <a:spcAft>
                <a:spcPts val="200"/>
              </a:spcAft>
            </a:pPr>
            <a:r>
              <a:rPr sz="1000" b="0">
                <a:solidFill>
                  <a:srgbClr val="555555"/>
                </a:solidFill>
                <a:latin typeface="Calibri"/>
              </a:rPr>
              <a:t>Fig 3. Cluster vs. Dose-Response heatmap (k=3). Left: cell counts. Right: row-normalised %.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060000" y="13824000"/>
            <a:ext cx="11400000" cy="3600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060000" y="13428000"/>
            <a:ext cx="114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60"/>
              </a:lnSpc>
              <a:spcAft>
                <a:spcPts val="200"/>
              </a:spcAft>
            </a:pPr>
            <a:r>
              <a:rPr sz="2400" b="1">
                <a:solidFill>
                  <a:srgbClr val="003A70"/>
                </a:solidFill>
                <a:latin typeface="Calibri"/>
              </a:rPr>
              <a:t>Conclusions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060000" y="14076000"/>
            <a:ext cx="1140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200"/>
              </a:spcAft>
            </a:pPr>
            <a:r>
              <a:rPr sz="1300" b="0">
                <a:solidFill>
                  <a:srgbClr val="000000"/>
                </a:solidFill>
                <a:latin typeface="Calibri"/>
              </a:rPr>
              <a:t>1. GenAI foundation models (TimesFM, Chronos, Moirai) trained on general time-series data transfer effectively to biological single-cell trajectories, outperforming task-specific baselines by 13–28% RMSE.
2. Embedding-based unsupervised clustering reveals three distinct cell phenotypes that correlate with drug treatment and dose intensity.
3. Two-Way ANOVA confirms that dynamic (embedding-based) analysis captures significant interactions between clustering method and morphological features in 40/49 features tested.
4. The integrated Streamlit pipeline provides an accessible, reproducible framework for multivariate time-series analysis of cancer cell motility data.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4060000" y="19692000"/>
            <a:ext cx="11400000" cy="3600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4060000" y="19296000"/>
            <a:ext cx="114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60"/>
              </a:lnSpc>
              <a:spcAft>
                <a:spcPts val="200"/>
              </a:spcAft>
            </a:pPr>
            <a:r>
              <a:rPr sz="2400" b="1">
                <a:solidFill>
                  <a:srgbClr val="003A70"/>
                </a:solidFill>
                <a:latin typeface="Calibri"/>
              </a:rPr>
              <a:t>Bibliography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060000" y="19944000"/>
            <a:ext cx="1140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Calibri"/>
              </a:rPr>
              <a:t>[1] Das, A. et al. "TimesFM: Time Series Foundation Model for Universal Forecasting." Google Research, ICML 2024.
[2] Ansari, A. F. et al. "Chronos: Learning the Language of Time Series." Amazon Science, arXiv:2403.07815, 2024.
[3] Woo, G. et al. "Unified Training of Universal Time Series Forecasting Transformers (Moirai)." Salesforce Research, ICML 2024.
[4] Specht, E. A. et al. "High-Content Analysis and AI-based Cell Morphology Profiling." Nature Rev. Methods Primers, 2024.
[5] Tsarfaty, I. et al. "Cell Motility and Metastasis: Cellomics Approaches." Methods in Molecular Biology, 2013.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